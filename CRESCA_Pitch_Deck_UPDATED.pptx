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CRESCA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7BFF"/>
                </a:solidFill>
              </a:defRPr>
            </a:pPr>
            <a:r>
              <a:t>Sistemas de Crecimiento Empresarial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Infraestructura Digital  ·  Automatización  ·  Crecimiento Estructurado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El Salvador, C.A.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</a:defRPr>
            </a:pPr>
            <a:r>
              <a:t>NO SOMOS UNA AGENCIA.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BFF"/>
                </a:solidFill>
              </a:defRPr>
            </a:pPr>
            <a:r>
              <a:t>SOMOS UNA EMPRESA DE SISTEMAS DE CRECIMIENTO.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Lo que NO somos:</a:t>
            </a:r>
          </a:p>
          <a:p>
            <a:pPr>
              <a:defRPr sz="1800" b="0">
                <a:solidFill>
                  <a:srgbClr val="6B7280"/>
                </a:solidFill>
              </a:defRPr>
            </a:pPr>
            <a:r>
              <a:t>✗  Agencia de marketing</a:t>
            </a:r>
          </a:p>
          <a:p>
            <a:pPr>
              <a:defRPr sz="1800" b="0">
                <a:solidFill>
                  <a:srgbClr val="6B7280"/>
                </a:solidFill>
              </a:defRPr>
            </a:pPr>
            <a:r>
              <a:t>✗  Constructor de sitios web</a:t>
            </a:r>
          </a:p>
          <a:p>
            <a:pPr>
              <a:defRPr sz="1800" b="0">
                <a:solidFill>
                  <a:srgbClr val="6B7280"/>
                </a:solidFill>
              </a:defRPr>
            </a:pPr>
            <a:r>
              <a:t>✗  Agencia de chatbots</a:t>
            </a:r>
          </a:p>
          <a:p>
            <a:pPr>
              <a:defRPr sz="1800" b="0">
                <a:solidFill>
                  <a:srgbClr val="6B7280"/>
                </a:solidFill>
              </a:defRPr>
            </a:pPr>
            <a:r>
              <a:t>✗  Servicios sueltos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2004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Lo que SÍ somos:</a:t>
            </a:r>
          </a:p>
          <a:p>
            <a:pPr>
              <a:defRPr sz="1800" b="0">
                <a:solidFill>
                  <a:srgbClr val="10B981"/>
                </a:solidFill>
              </a:defRPr>
            </a:pPr>
            <a:r>
              <a:t>✓  Sistemas integrados</a:t>
            </a:r>
          </a:p>
          <a:p>
            <a:pPr>
              <a:defRPr sz="1800" b="0">
                <a:solidFill>
                  <a:srgbClr val="10B981"/>
                </a:solidFill>
              </a:defRPr>
            </a:pPr>
            <a:r>
              <a:t>✓  Infraestructura digital</a:t>
            </a:r>
          </a:p>
          <a:p>
            <a:pPr>
              <a:defRPr sz="1800" b="0">
                <a:solidFill>
                  <a:srgbClr val="10B981"/>
                </a:solidFill>
              </a:defRPr>
            </a:pPr>
            <a:r>
              <a:t>✓  Automatización empresarial</a:t>
            </a:r>
          </a:p>
          <a:p>
            <a:pPr>
              <a:defRPr sz="1800" b="0">
                <a:solidFill>
                  <a:srgbClr val="10B981"/>
                </a:solidFill>
              </a:defRPr>
            </a:pPr>
            <a:r>
              <a:t>✓  Crecimiento estructurado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7BFF"/>
                </a:solidFill>
              </a:defRPr>
            </a:pPr>
            <a:r>
              <a:t>Los negocios en El Salvador operan sin sistemas.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📋  Procesos 100% manuales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📱  Dependen de WhatsApp personal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🛒  Solo venden por Facebook Marketplace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📉  Pierden clientes por falta de seguimiento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⏰  El dueño hace TODO personalmente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7432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>
              <a:defRPr sz="1800" b="0">
                <a:solidFill>
                  <a:srgbClr val="6B7280"/>
                </a:solidFill>
              </a:defRPr>
            </a:pPr>
            <a:r>
              <a:t>Sin presencia web profesional</a:t>
            </a:r>
          </a:p>
          <a:p>
            <a:pPr>
              <a:defRPr sz="1800" b="0">
                <a:solidFill>
                  <a:srgbClr val="6B7280"/>
                </a:solidFill>
              </a:defRPr>
            </a:pPr>
            <a:r>
              <a:t>Sin automatización ni workflows</a:t>
            </a:r>
          </a:p>
          <a:p>
            <a:pPr>
              <a:defRPr sz="1800" b="0">
                <a:solidFill>
                  <a:srgbClr val="6B7280"/>
                </a:solidFill>
              </a:defRPr>
            </a:pPr>
            <a:r>
              <a:t>Sin reportes ni datos</a:t>
            </a:r>
          </a:p>
          <a:p>
            <a:pPr>
              <a:defRPr sz="1800" b="0">
                <a:solidFill>
                  <a:srgbClr val="6B7280"/>
                </a:solidFill>
              </a:defRPr>
            </a:pPr>
            <a:r>
              <a:t>No escalan: el negocio depende</a:t>
            </a:r>
          </a:p>
          <a:p>
            <a:pPr>
              <a:defRPr sz="1800" b="0">
                <a:solidFill>
                  <a:srgbClr val="6B7280"/>
                </a:solidFill>
              </a:defRPr>
            </a:pPr>
            <a:r>
              <a:t>100% del dueño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LA SOLUCIÓN: SISTEMAS DE CRECIMIENTO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B7280"/>
                </a:solidFill>
              </a:defRPr>
            </a:pPr>
            <a:r>
              <a:t>Cresca construye la infraestructura digital y automatización que tu negocio necesita para crecer — empezando desde $9.99/mes.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🏗️  Infraestructura Digital</a:t>
            </a:r>
          </a:p>
          <a:p>
            <a:pPr>
              <a:defRPr sz="1600" b="0">
                <a:solidFill>
                  <a:srgbClr val="1A1A2E"/>
                </a:solidFill>
              </a:defRPr>
            </a:pPr>
            <a:r>
              <a:t>Presencia web profesional</a:t>
            </a:r>
          </a:p>
          <a:p>
            <a:pPr>
              <a:defRPr sz="1600" b="0">
                <a:solidFill>
                  <a:srgbClr val="1A1A2E"/>
                </a:solidFill>
              </a:defRPr>
            </a:pPr>
            <a:r>
              <a:t>Captura de leads automática</a:t>
            </a:r>
          </a:p>
          <a:p>
            <a:pPr>
              <a:defRPr sz="1600" b="0">
                <a:solidFill>
                  <a:srgbClr val="1A1A2E"/>
                </a:solidFill>
              </a:defRPr>
            </a:pPr>
            <a:r>
              <a:t>Módulo de reservas integrado</a:t>
            </a:r>
          </a:p>
          <a:p>
            <a:pPr>
              <a:defRPr sz="1600" b="0">
                <a:solidFill>
                  <a:srgbClr val="1A1A2E"/>
                </a:solidFill>
              </a:defRPr>
            </a:pPr>
            <a:r>
              <a:t>Google Business optimizado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0175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⚙️  Automatización</a:t>
            </a:r>
          </a:p>
          <a:p>
            <a:pPr>
              <a:defRPr sz="1600" b="0">
                <a:solidFill>
                  <a:srgbClr val="1A1A2E"/>
                </a:solidFill>
              </a:defRPr>
            </a:pPr>
            <a:r>
              <a:t>Workflows automatizados</a:t>
            </a:r>
          </a:p>
          <a:p>
            <a:pPr>
              <a:defRPr sz="1600" b="0">
                <a:solidFill>
                  <a:srgbClr val="1A1A2E"/>
                </a:solidFill>
              </a:defRPr>
            </a:pPr>
            <a:r>
              <a:t>Seguimiento sin intervención</a:t>
            </a:r>
          </a:p>
          <a:p>
            <a:pPr>
              <a:defRPr sz="1600" b="0">
                <a:solidFill>
                  <a:srgbClr val="1A1A2E"/>
                </a:solidFill>
              </a:defRPr>
            </a:pPr>
            <a:r>
              <a:t>Respuestas automáticas 24/7</a:t>
            </a:r>
          </a:p>
          <a:p>
            <a:pPr>
              <a:defRPr sz="1600" b="0">
                <a:solidFill>
                  <a:srgbClr val="1A1A2E"/>
                </a:solidFill>
              </a:defRPr>
            </a:pPr>
            <a:r>
              <a:t>Reportería y optimización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</a:defRPr>
            </a:pPr>
            <a:r>
              <a:t>NUESTROS 3 NIVELES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7BFF"/>
                </a:solidFill>
              </a:defRPr>
            </a:pPr>
            <a:r>
              <a:t>STARTER</a:t>
            </a:r>
          </a:p>
          <a:p>
            <a:pPr>
              <a:defRPr sz="600" b="0">
                <a:solidFill>
                  <a:srgbClr val="1A1A2E"/>
                </a:solidFill>
              </a:defRPr>
            </a:pPr>
          </a:p>
          <a:p>
            <a:pPr>
              <a:defRPr sz="2000" b="1">
                <a:solidFill>
                  <a:srgbClr val="007BFF"/>
                </a:solidFill>
              </a:defRPr>
            </a:pPr>
            <a:r>
              <a:t>$9.99 – $49.99/mes</a:t>
            </a:r>
          </a:p>
          <a:p>
            <a:pPr>
              <a:defRPr sz="400" b="0">
                <a:solidFill>
                  <a:srgbClr val="1A1A2E"/>
                </a:solidFill>
              </a:defRPr>
            </a:pPr>
          </a:p>
          <a:p>
            <a:pPr>
              <a:defRPr sz="1400" b="1">
                <a:solidFill>
                  <a:srgbClr val="1A1A2E"/>
                </a:solidFill>
              </a:defRPr>
            </a:pPr>
            <a:r>
              <a:t>Entrada al mundo digital</a:t>
            </a:r>
          </a:p>
          <a:p>
            <a:pPr>
              <a:defRPr sz="400" b="0">
                <a:solidFill>
                  <a:srgbClr val="1A1A2E"/>
                </a:solidFill>
              </a:defRPr>
            </a:pPr>
          </a:p>
          <a:p>
            <a:pPr>
              <a:defRPr sz="1400" b="0">
                <a:solidFill>
                  <a:srgbClr val="1A1A2E"/>
                </a:solidFill>
              </a:defRPr>
            </a:pPr>
            <a:r>
              <a:t>✓ 1 Workflow Lite incluido</a:t>
            </a:r>
          </a:p>
          <a:p>
            <a:pPr>
              <a:defRPr sz="1400" b="0">
                <a:solidFill>
                  <a:srgbClr val="1A1A2E"/>
                </a:solidFill>
              </a:defRPr>
            </a:pPr>
            <a:r>
              <a:t>✓ Plantillas y guías</a:t>
            </a:r>
          </a:p>
          <a:p>
            <a:pPr>
              <a:defRPr sz="1400" b="0">
                <a:solidFill>
                  <a:srgbClr val="1A1A2E"/>
                </a:solidFill>
              </a:defRPr>
            </a:pPr>
            <a:r>
              <a:t>✓ Google Business (según tier)</a:t>
            </a:r>
          </a:p>
          <a:p>
            <a:pPr>
              <a:defRPr sz="1400" b="0">
                <a:solidFill>
                  <a:srgbClr val="1A1A2E"/>
                </a:solidFill>
              </a:defRPr>
            </a:pPr>
            <a:r>
              <a:t>✓ Micro-sitio (tier Pro)</a:t>
            </a:r>
          </a:p>
          <a:p>
            <a:pPr>
              <a:defRPr sz="400" b="0">
                <a:solidFill>
                  <a:srgbClr val="1A1A2E"/>
                </a:solidFill>
              </a:defRPr>
            </a:pPr>
          </a:p>
          <a:p>
            <a:pPr>
              <a:defRPr sz="1300" b="0">
                <a:solidFill>
                  <a:srgbClr val="6B7280"/>
                </a:solidFill>
              </a:defRPr>
            </a:pPr>
            <a:r>
              <a:t>Setup: $0 – $199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118872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B981"/>
                </a:solidFill>
              </a:defRPr>
            </a:pPr>
            <a:r>
              <a:t>GROWTH</a:t>
            </a:r>
          </a:p>
          <a:p>
            <a:pPr>
              <a:defRPr sz="600" b="0">
                <a:solidFill>
                  <a:srgbClr val="1A1A2E"/>
                </a:solidFill>
              </a:defRPr>
            </a:pPr>
          </a:p>
          <a:p>
            <a:pPr>
              <a:defRPr sz="2000" b="1">
                <a:solidFill>
                  <a:srgbClr val="10B981"/>
                </a:solidFill>
              </a:defRPr>
            </a:pPr>
            <a:r>
              <a:t>$50 – $100/mes</a:t>
            </a:r>
          </a:p>
          <a:p>
            <a:pPr>
              <a:defRPr sz="400" b="0">
                <a:solidFill>
                  <a:srgbClr val="1A1A2E"/>
                </a:solidFill>
              </a:defRPr>
            </a:pPr>
          </a:p>
          <a:p>
            <a:pPr>
              <a:defRPr sz="1400" b="1">
                <a:solidFill>
                  <a:srgbClr val="1A1A2E"/>
                </a:solidFill>
              </a:defRPr>
            </a:pPr>
            <a:r>
              <a:t>Infraestructura + automatización</a:t>
            </a:r>
          </a:p>
          <a:p>
            <a:pPr>
              <a:defRPr sz="400" b="0">
                <a:solidFill>
                  <a:srgbClr val="1A1A2E"/>
                </a:solidFill>
              </a:defRPr>
            </a:pPr>
          </a:p>
          <a:p>
            <a:pPr>
              <a:defRPr sz="1400" b="0">
                <a:solidFill>
                  <a:srgbClr val="1A1A2E"/>
                </a:solidFill>
              </a:defRPr>
            </a:pPr>
            <a:r>
              <a:t>✓ Website 3–5 páginas</a:t>
            </a:r>
          </a:p>
          <a:p>
            <a:pPr>
              <a:defRPr sz="1400" b="0">
                <a:solidFill>
                  <a:srgbClr val="1A1A2E"/>
                </a:solidFill>
              </a:defRPr>
            </a:pPr>
            <a:r>
              <a:t>✓ Captura de leads + CTA</a:t>
            </a:r>
          </a:p>
          <a:p>
            <a:pPr>
              <a:defRPr sz="1400" b="0">
                <a:solidFill>
                  <a:srgbClr val="1A1A2E"/>
                </a:solidFill>
              </a:defRPr>
            </a:pPr>
            <a:r>
              <a:t>✓ 1–2 Full Workflows</a:t>
            </a:r>
          </a:p>
          <a:p>
            <a:pPr>
              <a:defRPr sz="1400" b="0">
                <a:solidFill>
                  <a:srgbClr val="1A1A2E"/>
                </a:solidFill>
              </a:defRPr>
            </a:pPr>
            <a:r>
              <a:t>✓ Módulo de reservas (si aplica)</a:t>
            </a:r>
          </a:p>
          <a:p>
            <a:pPr>
              <a:defRPr sz="400" b="0">
                <a:solidFill>
                  <a:srgbClr val="1A1A2E"/>
                </a:solidFill>
              </a:defRPr>
            </a:pPr>
          </a:p>
          <a:p>
            <a:pPr>
              <a:defRPr sz="1300" b="0">
                <a:solidFill>
                  <a:srgbClr val="6B7280"/>
                </a:solidFill>
              </a:defRPr>
            </a:pPr>
            <a:r>
              <a:t>Setup: $199 – $499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9E0B"/>
                </a:solidFill>
              </a:defRPr>
            </a:pPr>
            <a:r>
              <a:t>PRO AUTOMATION</a:t>
            </a:r>
          </a:p>
          <a:p>
            <a:pPr>
              <a:defRPr sz="600" b="0">
                <a:solidFill>
                  <a:srgbClr val="1A1A2E"/>
                </a:solidFill>
              </a:defRPr>
            </a:pPr>
          </a:p>
          <a:p>
            <a:pPr>
              <a:defRPr sz="2000" b="1">
                <a:solidFill>
                  <a:srgbClr val="F59E0B"/>
                </a:solidFill>
              </a:defRPr>
            </a:pPr>
            <a:r>
              <a:t>Cotización</a:t>
            </a:r>
          </a:p>
          <a:p>
            <a:pPr>
              <a:defRPr sz="400" b="0">
                <a:solidFill>
                  <a:srgbClr val="1A1A2E"/>
                </a:solidFill>
              </a:defRPr>
            </a:pPr>
          </a:p>
          <a:p>
            <a:pPr>
              <a:defRPr sz="1400" b="1">
                <a:solidFill>
                  <a:srgbClr val="1A1A2E"/>
                </a:solidFill>
              </a:defRPr>
            </a:pPr>
            <a:r>
              <a:t>Automatización avanzada</a:t>
            </a:r>
          </a:p>
          <a:p>
            <a:pPr>
              <a:defRPr sz="400" b="0">
                <a:solidFill>
                  <a:srgbClr val="1A1A2E"/>
                </a:solidFill>
              </a:defRPr>
            </a:pPr>
          </a:p>
          <a:p>
            <a:pPr>
              <a:defRPr sz="1400" b="0">
                <a:solidFill>
                  <a:srgbClr val="1A1A2E"/>
                </a:solidFill>
              </a:defRPr>
            </a:pPr>
            <a:r>
              <a:t>✓ Auditoría de procesos</a:t>
            </a:r>
          </a:p>
          <a:p>
            <a:pPr>
              <a:defRPr sz="1400" b="0">
                <a:solidFill>
                  <a:srgbClr val="1A1A2E"/>
                </a:solidFill>
              </a:defRPr>
            </a:pPr>
            <a:r>
              <a:t>✓ 4+ workflows personalizados</a:t>
            </a:r>
          </a:p>
          <a:p>
            <a:pPr>
              <a:defRPr sz="1400" b="0">
                <a:solidFill>
                  <a:srgbClr val="1A1A2E"/>
                </a:solidFill>
              </a:defRPr>
            </a:pPr>
            <a:r>
              <a:t>✓ Monitoreo y optimización</a:t>
            </a:r>
          </a:p>
          <a:p>
            <a:pPr>
              <a:defRPr sz="1400" b="0">
                <a:solidFill>
                  <a:srgbClr val="1A1A2E"/>
                </a:solidFill>
              </a:defRPr>
            </a:pPr>
            <a:r>
              <a:t>✓ Reportería y dashboards</a:t>
            </a:r>
          </a:p>
          <a:p>
            <a:pPr>
              <a:defRPr sz="400" b="0">
                <a:solidFill>
                  <a:srgbClr val="1A1A2E"/>
                </a:solidFill>
              </a:defRPr>
            </a:pPr>
          </a:p>
          <a:p>
            <a:pPr>
              <a:defRPr sz="1300" b="0">
                <a:solidFill>
                  <a:srgbClr val="6B7280"/>
                </a:solidFill>
              </a:defRPr>
            </a:pPr>
            <a:r>
              <a:t>Recomendado: 12 meses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EMPIECE PEQUEÑO, ESCALE CUANDO CREZCA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7BFF"/>
                </a:solidFill>
              </a:defRPr>
            </a:pPr>
            <a:r>
              <a:t>Su negocio crece con usted — su sistema también.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BFF"/>
                </a:solidFill>
              </a:defRPr>
            </a:pPr>
            <a:r>
              <a:t>📱 STARTER</a:t>
            </a:r>
          </a:p>
          <a:p>
            <a:pPr>
              <a:defRPr sz="600" b="0">
                <a:solidFill>
                  <a:srgbClr val="1A1A2E"/>
                </a:solidFill>
              </a:defRPr>
            </a:pP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Desde $9.99/mes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1 Workflow Lite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Plantillas y guías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3657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BFF"/>
                </a:solidFill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603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</a:defRPr>
            </a:pPr>
            <a:r>
              <a:t>🏗️ GROWTH</a:t>
            </a:r>
          </a:p>
          <a:p>
            <a:pPr>
              <a:defRPr sz="600" b="0">
                <a:solidFill>
                  <a:srgbClr val="1A1A2E"/>
                </a:solidFill>
              </a:defRPr>
            </a:pP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Desde $50/mes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Website + Workflows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Reservas + Leads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5603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</a:defRPr>
            </a:pPr>
            <a:r>
              <a:t>⚙️ PRO</a:t>
            </a:r>
          </a:p>
          <a:p>
            <a:pPr>
              <a:defRPr sz="600" b="0">
                <a:solidFill>
                  <a:srgbClr val="1A1A2E"/>
                </a:solidFill>
              </a:defRPr>
            </a:pP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Cotización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4+ Workflows avanzados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Auditoría + monitoreo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BFF"/>
                </a:solidFill>
              </a:defRPr>
            </a:pPr>
            <a:r>
              <a:t>No necesita invertir todo desde el inicio. Comience con lo que necesita hoy y crezca con Cresca.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</a:defRPr>
            </a:pPr>
            <a:r>
              <a:t>AUDITORÍA CRESCA EN 15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</a:defRPr>
            </a:pPr>
            <a:r>
              <a:t>Diagnosticamos su negocio GRATIS para recomendarle el sistema correcto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</a:defRPr>
            </a:pPr>
            <a:r>
              <a:t>1️⃣  LEADS</a:t>
            </a:r>
          </a:p>
          <a:p>
            <a:pPr>
              <a:defRPr sz="600" b="0">
                <a:solidFill>
                  <a:srgbClr val="1A1A2E"/>
                </a:solidFill>
              </a:defRPr>
            </a:pPr>
          </a:p>
          <a:p>
            <a:pPr>
              <a:defRPr sz="1400" b="0">
                <a:solidFill>
                  <a:srgbClr val="1A1A2E"/>
                </a:solidFill>
              </a:defRPr>
            </a:pPr>
            <a:r>
              <a:t>¿De dónde vienen</a:t>
            </a:r>
            <a:br/>
            <a:r>
              <a:t>sus clientes?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10312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2️⃣  RESPUESTA</a:t>
            </a:r>
          </a:p>
          <a:p>
            <a:pPr>
              <a:defRPr sz="600" b="0">
                <a:solidFill>
                  <a:srgbClr val="1A1A2E"/>
                </a:solidFill>
              </a:defRPr>
            </a:pPr>
          </a:p>
          <a:p>
            <a:pPr>
              <a:defRPr sz="1400" b="0">
                <a:solidFill>
                  <a:srgbClr val="1A1A2E"/>
                </a:solidFill>
              </a:defRPr>
            </a:pPr>
            <a:r>
              <a:t>¿Cuánto tardan en</a:t>
            </a:r>
            <a:br/>
            <a:r>
              <a:t>responder?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10312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</a:defRPr>
            </a:pPr>
            <a:r>
              <a:t>3️⃣  VENTAS</a:t>
            </a:r>
          </a:p>
          <a:p>
            <a:pPr>
              <a:defRPr sz="600" b="0">
                <a:solidFill>
                  <a:srgbClr val="1A1A2E"/>
                </a:solidFill>
              </a:defRPr>
            </a:pPr>
          </a:p>
          <a:p>
            <a:pPr>
              <a:defRPr sz="1400" b="0">
                <a:solidFill>
                  <a:srgbClr val="1A1A2E"/>
                </a:solidFill>
              </a:defRPr>
            </a:pPr>
            <a:r>
              <a:t>¿Cómo cierran</a:t>
            </a:r>
            <a:br/>
            <a:r>
              <a:t>ventas?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10312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4️⃣  OPERACIONES</a:t>
            </a:r>
          </a:p>
          <a:p>
            <a:pPr>
              <a:defRPr sz="600" b="0">
                <a:solidFill>
                  <a:srgbClr val="1A1A2E"/>
                </a:solidFill>
              </a:defRPr>
            </a:pPr>
          </a:p>
          <a:p>
            <a:pPr>
              <a:defRPr sz="1400" b="0">
                <a:solidFill>
                  <a:srgbClr val="1A1A2E"/>
                </a:solidFill>
              </a:defRPr>
            </a:pPr>
            <a:r>
              <a:t>¿Qué procesos</a:t>
            </a:r>
            <a:br/>
            <a:r>
              <a:t>consumen tiempo?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210312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</a:defRPr>
            </a:pPr>
            <a:r>
              <a:t>5️⃣  RETENCIÓN</a:t>
            </a:r>
          </a:p>
          <a:p>
            <a:pPr>
              <a:defRPr sz="600" b="0">
                <a:solidFill>
                  <a:srgbClr val="1A1A2E"/>
                </a:solidFill>
              </a:defRPr>
            </a:pPr>
          </a:p>
          <a:p>
            <a:pPr>
              <a:defRPr sz="1400" b="0">
                <a:solidFill>
                  <a:srgbClr val="1A1A2E"/>
                </a:solidFill>
              </a:defRPr>
            </a:pPr>
            <a:r>
              <a:t>¿Cómo mantienen</a:t>
            </a:r>
            <a:br/>
            <a:r>
              <a:t>contacto?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Resultado: Sabemos exactamente qué nivel necesita → STARTER, GROWTH o PRO AUTOMATION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MÓDULO DE RESERVAS — PARA CUALQUIER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</a:defRPr>
            </a:pPr>
            <a:r>
              <a:t>Las reservas son una capacidad universal, disponible en Growth y Pro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✅  Lo que incluye:</a:t>
            </a:r>
          </a:p>
          <a:p>
            <a:pPr>
              <a:defRPr sz="600" b="0">
                <a:solidFill>
                  <a:srgbClr val="1A1A2E"/>
                </a:solidFill>
              </a:defRPr>
            </a:pPr>
          </a:p>
          <a:p>
            <a:pPr>
              <a:defRPr sz="1600" b="0">
                <a:solidFill>
                  <a:srgbClr val="1A1A2E"/>
                </a:solidFill>
              </a:defRPr>
            </a:pPr>
            <a:r>
              <a:t>Sistema de reservas online</a:t>
            </a:r>
          </a:p>
          <a:p>
            <a:pPr>
              <a:defRPr sz="1600" b="0">
                <a:solidFill>
                  <a:srgbClr val="1A1A2E"/>
                </a:solidFill>
              </a:defRPr>
            </a:pPr>
            <a:r>
              <a:t>Calendario de disponibilidad</a:t>
            </a:r>
          </a:p>
          <a:p>
            <a:pPr>
              <a:defRPr sz="1600" b="0">
                <a:solidFill>
                  <a:srgbClr val="1A1A2E"/>
                </a:solidFill>
              </a:defRPr>
            </a:pPr>
            <a:r>
              <a:t>Notificaciones automáticas</a:t>
            </a:r>
          </a:p>
          <a:p>
            <a:pPr>
              <a:defRPr sz="1600" b="0">
                <a:solidFill>
                  <a:srgbClr val="1A1A2E"/>
                </a:solidFill>
              </a:defRPr>
            </a:pPr>
            <a:r>
              <a:t>Sin comisiones de terceros</a:t>
            </a:r>
          </a:p>
          <a:p>
            <a:pPr>
              <a:defRPr sz="1600" b="0">
                <a:solidFill>
                  <a:srgbClr val="1A1A2E"/>
                </a:solidFill>
              </a:defRPr>
            </a:pPr>
            <a:r>
              <a:t>Integrado con el sitio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🏢  Para quién:</a:t>
            </a:r>
          </a:p>
          <a:p>
            <a:pPr>
              <a:defRPr sz="600" b="0">
                <a:solidFill>
                  <a:srgbClr val="1A1A2E"/>
                </a:solidFill>
              </a:defRPr>
            </a:pPr>
          </a:p>
          <a:p>
            <a:pPr>
              <a:defRPr sz="1600" b="0">
                <a:solidFill>
                  <a:srgbClr val="1A1A2E"/>
                </a:solidFill>
              </a:defRPr>
            </a:pPr>
            <a:r>
              <a:t>Restaurantes y cafés</a:t>
            </a:r>
          </a:p>
          <a:p>
            <a:pPr>
              <a:defRPr sz="1600" b="0">
                <a:solidFill>
                  <a:srgbClr val="1A1A2E"/>
                </a:solidFill>
              </a:defRPr>
            </a:pPr>
            <a:r>
              <a:t>Barberías y salones</a:t>
            </a:r>
          </a:p>
          <a:p>
            <a:pPr>
              <a:defRPr sz="1600" b="0">
                <a:solidFill>
                  <a:srgbClr val="1A1A2E"/>
                </a:solidFill>
              </a:defRPr>
            </a:pPr>
            <a:r>
              <a:t>Hospedaje y Airbnb</a:t>
            </a:r>
          </a:p>
          <a:p>
            <a:pPr>
              <a:defRPr sz="1600" b="0">
                <a:solidFill>
                  <a:srgbClr val="1A1A2E"/>
                </a:solidFill>
              </a:defRPr>
            </a:pPr>
            <a:r>
              <a:t>Clínicas y consultorios</a:t>
            </a:r>
          </a:p>
          <a:p>
            <a:pPr>
              <a:defRPr sz="1600" b="0">
                <a:solidFill>
                  <a:srgbClr val="1A1A2E"/>
                </a:solidFill>
              </a:defRPr>
            </a:pPr>
            <a:r>
              <a:t>Cualquier negocio con citas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CÓMO TRABAJAMOS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7BFF"/>
                </a:solidFill>
              </a:defRPr>
            </a:pPr>
            <a:r>
              <a:t>1️⃣  AUDITAMOS</a:t>
            </a:r>
          </a:p>
          <a:p>
            <a:pPr>
              <a:defRPr sz="800" b="0">
                <a:solidFill>
                  <a:srgbClr val="1A1A2E"/>
                </a:solidFill>
              </a:defRPr>
            </a:pP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15 minutos de diagnóstico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Identificamos oportunidades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Recomendamos el nivel ideal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8288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B981"/>
                </a:solidFill>
              </a:defRPr>
            </a:pPr>
            <a:r>
              <a:t>2️⃣  CONSTRUIMOS</a:t>
            </a:r>
          </a:p>
          <a:p>
            <a:pPr>
              <a:defRPr sz="800" b="0">
                <a:solidFill>
                  <a:srgbClr val="1A1A2E"/>
                </a:solidFill>
              </a:defRPr>
            </a:pP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Implementamos su sistema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Configuramos workflows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Capacitamos a su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8288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7BFF"/>
                </a:solidFill>
              </a:defRPr>
            </a:pPr>
            <a:r>
              <a:t>3️⃣  OPTIMIZAMOS</a:t>
            </a:r>
          </a:p>
          <a:p>
            <a:pPr>
              <a:defRPr sz="800" b="0">
                <a:solidFill>
                  <a:srgbClr val="1A1A2E"/>
                </a:solidFill>
              </a:defRPr>
            </a:pP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Monitoreo continuo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Soporte y mantenimiento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Mejoras progresivas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BFF"/>
                </a:solidFill>
              </a:defRPr>
            </a:pPr>
            <a:r>
              <a:t>No te dejamos solo después de la entrega. Somos tu socio tecnológico a largo plazo.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</a:defRPr>
            </a:pPr>
            <a:r>
              <a:t>OPCIONES DE PAGO FLEXIBLES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</a:p>
          <a:p>
            <a:pPr>
              <a:defRPr sz="2000" b="0">
                <a:solidFill>
                  <a:srgbClr val="1A1A2E"/>
                </a:solidFill>
              </a:defRPr>
            </a:pPr>
            <a:r>
              <a:t>📅  Mes a mes — sin compromiso, precio estándar</a:t>
            </a:r>
          </a:p>
          <a:p>
            <a:pPr>
              <a:defRPr sz="800" b="0">
                <a:solidFill>
                  <a:srgbClr val="1A1A2E"/>
                </a:solidFill>
              </a:defRPr>
            </a:pPr>
          </a:p>
          <a:p>
            <a:pPr>
              <a:defRPr sz="2000" b="0">
                <a:solidFill>
                  <a:srgbClr val="1A1A2E"/>
                </a:solidFill>
              </a:defRPr>
            </a:pPr>
            <a:r>
              <a:t>💰  6 meses por adelantado — 1 mes gratis o descuento en setup</a:t>
            </a:r>
          </a:p>
          <a:p>
            <a:pPr>
              <a:defRPr sz="800" b="0">
                <a:solidFill>
                  <a:srgbClr val="1A1A2E"/>
                </a:solidFill>
              </a:defRPr>
            </a:pPr>
          </a:p>
          <a:p>
            <a:pPr>
              <a:defRPr sz="2000" b="0">
                <a:solidFill>
                  <a:srgbClr val="1A1A2E"/>
                </a:solidFill>
              </a:defRPr>
            </a:pPr>
            <a:r>
              <a:t>🏆  12 meses por adelantado — 2 meses gratis o descuento en setup</a:t>
            </a:r>
          </a:p>
          <a:p>
            <a:pPr>
              <a:defRPr sz="800" b="0">
                <a:solidFill>
                  <a:srgbClr val="1A1A2E"/>
                </a:solidFill>
              </a:defRPr>
            </a:pPr>
          </a:p>
          <a:p>
            <a:pPr>
              <a:defRPr sz="2000" b="0">
                <a:solidFill>
                  <a:srgbClr val="1A1A2E"/>
                </a:solidFill>
              </a:defRPr>
            </a:pPr>
            <a:r>
              <a:t>🤝  Plan Flex — Setup dividido: 50% hoy + 50% en 30 días</a:t>
            </a:r>
          </a:p>
          <a:p>
            <a:pPr>
              <a:defRPr sz="800" b="0">
                <a:solidFill>
                  <a:srgbClr val="1A1A2E"/>
                </a:solidFill>
              </a:defRPr>
            </a:pPr>
          </a:p>
          <a:p>
            <a:pPr>
              <a:defRPr sz="2000" b="1">
                <a:solidFill>
                  <a:srgbClr val="10B981"/>
                </a:solidFill>
              </a:defRPr>
            </a:pPr>
            <a:r>
              <a:t>Empiece desde $9.99/mes — sin excusas para no comenzar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</a:defRPr>
            </a:pPr>
            <a:r>
              <a:t>RESULTADOS REALES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</a:defRPr>
            </a:pPr>
            <a:r>
              <a:t>Lo que Cresca hace por negocios como el tuyo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🏪 Emprendedor → STARTER</a:t>
            </a:r>
          </a:p>
          <a:p>
            <a:pPr>
              <a:defRPr sz="600" b="0">
                <a:solidFill>
                  <a:srgbClr val="1A1A2E"/>
                </a:solidFill>
              </a:defRPr>
            </a:pPr>
          </a:p>
          <a:p>
            <a:pPr>
              <a:defRPr sz="1400" b="0">
                <a:solidFill>
                  <a:srgbClr val="6B7280"/>
                </a:solidFill>
              </a:defRPr>
            </a:pPr>
            <a:r>
              <a:t>Antes: Solo WhatsApp, sin sistema</a:t>
            </a:r>
          </a:p>
          <a:p>
            <a:pPr>
              <a:defRPr sz="1400" b="0">
                <a:solidFill>
                  <a:srgbClr val="1A1A2E"/>
                </a:solidFill>
              </a:defRPr>
            </a:pPr>
            <a:r>
              <a:t>Después: Workflow Lite + plantillas</a:t>
            </a:r>
          </a:p>
          <a:p>
            <a:pPr>
              <a:defRPr sz="1400" b="1">
                <a:solidFill>
                  <a:srgbClr val="10B981"/>
                </a:solidFill>
              </a:defRPr>
            </a:pPr>
            <a:r>
              <a:t>Resultado: Respuesta automática 24/7 por $9.99/mes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28600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🏨 Restaurante → GROWTH</a:t>
            </a:r>
          </a:p>
          <a:p>
            <a:pPr>
              <a:defRPr sz="600" b="0">
                <a:solidFill>
                  <a:srgbClr val="1A1A2E"/>
                </a:solidFill>
              </a:defRPr>
            </a:pPr>
          </a:p>
          <a:p>
            <a:pPr>
              <a:defRPr sz="1400" b="0">
                <a:solidFill>
                  <a:srgbClr val="6B7280"/>
                </a:solidFill>
              </a:defRPr>
            </a:pPr>
            <a:r>
              <a:t>Antes: Solo redes sociales, sin web</a:t>
            </a:r>
          </a:p>
          <a:p>
            <a:pPr>
              <a:defRPr sz="1400" b="0">
                <a:solidFill>
                  <a:srgbClr val="1A1A2E"/>
                </a:solidFill>
              </a:defRPr>
            </a:pPr>
            <a:r>
              <a:t>Después: Web + reservas + workflows</a:t>
            </a:r>
          </a:p>
          <a:p>
            <a:pPr>
              <a:defRPr sz="1400" b="1">
                <a:solidFill>
                  <a:srgbClr val="10B981"/>
                </a:solidFill>
              </a:defRPr>
            </a:pPr>
            <a:r>
              <a:t>Resultado: Reservas directas, más clientes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228600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🏢 Empresa → PRO</a:t>
            </a:r>
          </a:p>
          <a:p>
            <a:pPr>
              <a:defRPr sz="600" b="0">
                <a:solidFill>
                  <a:srgbClr val="1A1A2E"/>
                </a:solidFill>
              </a:defRPr>
            </a:pPr>
          </a:p>
          <a:p>
            <a:pPr>
              <a:defRPr sz="1400" b="0">
                <a:solidFill>
                  <a:srgbClr val="6B7280"/>
                </a:solidFill>
              </a:defRPr>
            </a:pPr>
            <a:r>
              <a:t>Antes: Todo manual, Excel, papel</a:t>
            </a:r>
          </a:p>
          <a:p>
            <a:pPr>
              <a:defRPr sz="1400" b="0">
                <a:solidFill>
                  <a:srgbClr val="1A1A2E"/>
                </a:solidFill>
              </a:defRPr>
            </a:pPr>
            <a:r>
              <a:t>Después: 4+ workflows automáticos</a:t>
            </a:r>
          </a:p>
          <a:p>
            <a:pPr>
              <a:defRPr sz="1400" b="1">
                <a:solidFill>
                  <a:srgbClr val="10B981"/>
                </a:solidFill>
              </a:defRPr>
            </a:pPr>
            <a:r>
              <a:t>Resultado: 40% menos tiempo en 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B7280"/>
                </a:solidFill>
              </a:defRPr>
            </a:pPr>
            <a:r>
              <a:t>Casos basados en resultados típicos. Resultados específicos varían según el negocio.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¿LISTO PARA CRECER?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1031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</a:defRPr>
            </a:pPr>
          </a:p>
          <a:p>
            <a:pPr>
              <a:defRPr sz="2200" b="0">
                <a:solidFill>
                  <a:srgbClr val="FFFFFF"/>
                </a:solidFill>
              </a:defRPr>
            </a:pPr>
            <a:r>
              <a:t>1️⃣   Auditoría gratuita de 15 minutos</a:t>
            </a:r>
          </a:p>
          <a:p>
            <a:pPr>
              <a:defRPr sz="800" b="0">
                <a:solidFill>
                  <a:srgbClr val="1A1A2E"/>
                </a:solidFill>
              </a:defRPr>
            </a:pPr>
          </a:p>
          <a:p>
            <a:pPr>
              <a:defRPr sz="2200" b="0">
                <a:solidFill>
                  <a:srgbClr val="FFFFFF"/>
                </a:solidFill>
              </a:defRPr>
            </a:pPr>
            <a:r>
              <a:t>2️⃣   Te recomendamos el nivel ideal</a:t>
            </a:r>
          </a:p>
          <a:p>
            <a:pPr>
              <a:defRPr sz="800" b="0">
                <a:solidFill>
                  <a:srgbClr val="1A1A2E"/>
                </a:solidFill>
              </a:defRPr>
            </a:pPr>
          </a:p>
          <a:p>
            <a:pPr>
              <a:defRPr sz="2200" b="0">
                <a:solidFill>
                  <a:srgbClr val="FFFFFF"/>
                </a:solidFill>
              </a:defRPr>
            </a:pPr>
            <a:r>
              <a:t>3️⃣   Configuramos tu sistema</a:t>
            </a:r>
          </a:p>
          <a:p>
            <a:pPr>
              <a:defRPr sz="800" b="0">
                <a:solidFill>
                  <a:srgbClr val="1A1A2E"/>
                </a:solidFill>
              </a:defRPr>
            </a:pPr>
          </a:p>
          <a:p>
            <a:pPr>
              <a:defRPr sz="2200" b="0">
                <a:solidFill>
                  <a:srgbClr val="FFFFFF"/>
                </a:solidFill>
              </a:defRPr>
            </a:pPr>
            <a:r>
              <a:t>4️⃣   Tu negocio crece con Cresca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Desde $9.99/mes  ·  Sin contratos largos  ·  Empiece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BFF"/>
                </a:solidFill>
              </a:defRPr>
            </a:pPr>
            <a:r>
              <a:t>CRESCA  ·  Sistemas de Crecimiento Empresarial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El Salvador, C.A.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